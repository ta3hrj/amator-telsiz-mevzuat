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100584" cy="22860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A8C8E8"/>
                </a:solidFill>
              </a:rPr>
              <a:t>TÜRKİYE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</a:rPr>
              <a:t>AMATÖR TELSİZCİLİK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E8B23A"/>
                </a:solidFill>
              </a:rPr>
              <a:t>MEVZUAT ÇALIŞMASI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</a:rPr>
              <a:t>ULUSAL DEĞERLENDİRME TOPLANTISI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E8B23A"/>
                </a:solidFill>
              </a:rPr>
              <a:t>Güçlü Mevzuat, Güçlü Haberleşme, Güçlü Türkiye!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526280"/>
            <a:ext cx="9875520" cy="777240"/>
          </a:xfrm>
          <a:prstGeom prst="rect">
            <a:avLst/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61772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09.08.2026</a:t>
            </a:r>
            <a:r>
              <a:rPr sz="1700" b="0">
                <a:solidFill>
                  <a:srgbClr val="E8B23A"/>
                </a:solidFill>
              </a:rPr>
              <a:t>   ·   </a:t>
            </a:r>
            <a:r>
              <a:rPr sz="1700" b="1">
                <a:solidFill>
                  <a:srgbClr val="FFFFFF"/>
                </a:solidFill>
              </a:rPr>
              <a:t>13:00</a:t>
            </a:r>
            <a:r>
              <a:rPr sz="1700" b="0">
                <a:solidFill>
                  <a:srgbClr val="E8B23A"/>
                </a:solidFill>
              </a:rPr>
              <a:t>   ·   </a:t>
            </a:r>
            <a:r>
              <a:rPr sz="1700" b="1">
                <a:solidFill>
                  <a:srgbClr val="FFFFFF"/>
                </a:solidFill>
              </a:rPr>
              <a:t>ZOOM</a:t>
            </a:r>
            <a:r>
              <a:rPr sz="1700" b="0">
                <a:solidFill>
                  <a:srgbClr val="A8C8E8"/>
                </a:solidFill>
              </a:rPr>
              <a:t>      22 Gri Alan  ·  Uzlaşı Oylaması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623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8C8E8"/>
                </a:solidFill>
              </a:rPr>
              <a:t>Toplantı Yöneticisi: Ertuğ ÖZBİL (TA1PB)      ·      Proje Yöneticisi: H. Erhan ÖZKAN (TA3HRJ)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678"/>
                </a:solidFill>
              </a:rPr>
              <a:t>Bu bir dernek girişimi değildir; amatör telsiz camiasına açık, gönüllü bir çalışmadır.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</a:rPr>
              <a:t>Bunlardan biri sizin de başınıza geldi mi?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Anten kurmak istediniz; apartman yönetimi izin vermedi.  </a:t>
            </a:r>
            <a:r>
              <a:rPr sz="1700" b="1">
                <a:solidFill>
                  <a:srgbClr val="E8B23A"/>
                </a:solidFill>
              </a:rPr>
              <a:t>Hangi maddeye dayanacaksınız?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50008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Telsizinizle yurt dışına çıktınız.  </a:t>
            </a:r>
            <a:r>
              <a:rPr sz="1700" b="1">
                <a:solidFill>
                  <a:srgbClr val="E8B23A"/>
                </a:solidFill>
              </a:rPr>
              <a:t>Hangi belgeyi göstereceksiniz?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08376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16936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Bir dostumuz Silent Key oldu.  </a:t>
            </a:r>
            <a:r>
              <a:rPr sz="1700" b="1">
                <a:solidFill>
                  <a:srgbClr val="E8B23A"/>
                </a:solidFill>
              </a:rPr>
              <a:t>Çağrı işareti ne olacak?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66744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7530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Depremde saatlerce telsizle yardım ettiniz.  </a:t>
            </a:r>
            <a:r>
              <a:rPr sz="1700" b="1">
                <a:solidFill>
                  <a:srgbClr val="E8B23A"/>
                </a:solidFill>
              </a:rPr>
              <a:t>Bunun yasal karşılığı ne?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25112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3367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İnternetten aldığınız telsiz “güvensiz” ilan edildi.  </a:t>
            </a:r>
            <a:r>
              <a:rPr sz="1700" b="1">
                <a:solidFill>
                  <a:srgbClr val="E8B23A"/>
                </a:solidFill>
              </a:rPr>
              <a:t>Sorumlusu kim?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solidFill>
            <a:srgbClr val="12305C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138928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</a:rPr>
              <a:t>Bu soruların cevabı bugün en az yedi ayrı mevzuata dağılmış durumda.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C8E8"/>
                </a:solidFill>
              </a:rPr>
              <a:t>Bu toplantı, o soruları tek tek masaya yatırmak ve ortak bir tutum belirlemek için.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C8E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Bu çalışma nedir — ve ne değildir?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257800" cy="4114800"/>
          </a:xfrm>
          <a:prstGeom prst="rect">
            <a:avLst/>
          </a:prstGeom>
          <a:solidFill>
            <a:srgbClr val="E8F3E8"/>
          </a:solidFill>
          <a:ln w="9525">
            <a:solidFill>
              <a:srgbClr val="9BC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D32"/>
                </a:solidFill>
              </a:rPr>
              <a:t>NEDİR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Amatör telsiz mevzuatının tek yerde derlenmiş hâli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Uygulamada belirsizlik yaratan 22 konunun (gri alan) tespiti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Her konu için A/B/C/D/E seçenekli topluluk oylaması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Kurumlara sunulmak üzere hazırlanmış örnek dilekçeler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Tamamı açık kaynak; herkes inceleyip katkı verebilir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5257800" cy="4114800"/>
          </a:xfrm>
          <a:prstGeom prst="rect">
            <a:avLst/>
          </a:prstGeom>
          <a:solidFill>
            <a:srgbClr val="FBE9E7"/>
          </a:solidFill>
          <a:ln w="9525">
            <a:solidFill>
              <a:srgbClr val="D9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A92B2B"/>
                </a:solidFill>
              </a:rPr>
              <a:t>NE DEĞİLDİR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Herhangi bir derneğin resmî girişimi değildir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Kimseye rol veya yetki atfetmez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Hukuki tavsiye değildir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Kişi ya da kurum hedef almaz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Bitmiş bir metin değildir — bugün birlikte şekillenecek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678"/>
                </a:solidFill>
              </a:rPr>
              <a:t>Not: IARU Bölge 1 Türkiye üyesi kuruluş TRAC'tır (bilgi amaçlı). Bu çalışma bağımsız ve gönüllüdür.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Nasıl hazırlandı? Neden güvenebilirsiniz?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4358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Birincil kaynaktan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Her iddia Resmî Gazete, BTK, KEGM, ITU ve CEPT belgelerine bağlandı. İkinci el yorum kullanılmadı.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7744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4086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Yapay zekâ + insan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Metinler yapay zekâ desteğiyle derlendi; tüm hukuki atıflar insan gözetiminde tek tek doğrulandı.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7472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3814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Hatalar açıkça düzeltildi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Denetimde kendi hatalarımızı bulduk ve kayda geçirerek düzelttik. Değişiklik günlüğü herkese açık.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57200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3542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Tamamen açık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Bütün belgeler ve düzeltme geçmişi GitHub'da yayımlanıyor: github.com/TA3HRJ/amator-telsiz-mevzuat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Bugünün akışı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13:00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7218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Açılış ve tanıtım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4721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10 dk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408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13:10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4086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Oylama usulünün anlatımı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3408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5 dk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95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13:15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0954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Öncelikli 8 gri alan — tartışma ve oylama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2095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60 dk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93192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78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14:15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0782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Kalan 14 gri alanın tanıtımı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4078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15 dk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80060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469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14:30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94690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Soru-cevap, kapanış ve sonraki adımlar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9469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15 dk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532120"/>
            <a:ext cx="10835640" cy="685800"/>
          </a:xfrm>
          <a:prstGeom prst="rect">
            <a:avLst/>
          </a:prstGeom>
          <a:solidFill>
            <a:srgbClr val="FFF6E0"/>
          </a:solidFill>
          <a:ln w="9525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3270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230"/>
                </a:solidFill>
              </a:rPr>
              <a:t>Bugün 8 öncelikli madde oylanacak. Kalan 14 madde tanıtılıp oylamaya çevrim içi olarak devam edilecek.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</a:rPr>
              <a:t>Oyunuz ne olacak?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C8E8"/>
                </a:solidFill>
              </a:rPr>
              <a:t>Oylama sembolik değildir. Sonuç somut bir belgeye dönüşür: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1B4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537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6537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Oylar sayılır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Her gri alan için topluluk tercihi belirlenir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971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1B4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6285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Rapor yayımlanır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Sayım sonucu ve varsa azınlık görüşleri açıkça yazılır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2971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1B4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033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033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Dilekçeye işlenir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Tablo B'deki 12 kurum dilekçesi topluluk tercihine göre güncellenir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971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5781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5781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Kurumlara sunulur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BTK, KEGM, Ulaştırma Bakanlığı, AFAD ve ilgili kurumlara iletilir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617720"/>
            <a:ext cx="10607040" cy="1234440"/>
          </a:xfrm>
          <a:prstGeom prst="rect">
            <a:avLst/>
          </a:prstGeom>
          <a:solidFill>
            <a:srgbClr val="12305C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B23A"/>
                </a:solidFill>
              </a:rPr>
              <a:t>Çekimser kalmak da bir tercihtir.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</a:rPr>
              <a:t>Bir maddede fikriniz yoksa boş bırakabilirsiniz. Katılmadığınız bir sonucu “E — Diğer görüş” ile kayda geçirebilirsiniz; azınlık görüşleri de raporda yer alacaktır.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C8E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Nasıl oy kullanılır?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230"/>
                </a:solidFill>
              </a:rPr>
              <a:t>Her gri alan için size en uygun seçeneği işaretleyin. Birden fazla seçenek işaretleyebilirsiniz.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73936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3736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Mevcut durumu koru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Bugünkü uygulama sürsün; değişiklik istemiyorum.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70048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33472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Topluluk öz-düzenlemesi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Kurum yerine dernek/kulüpler rehber ve iyi uygulama üretsin.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38144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566160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621024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29584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Yazılı görüş talebi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İlgili kurumdan konunun açıklığa kavuşturulması istensin.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34256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462272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17136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Mevzuat değişikliği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Yönetmelik veya düzenleme değişikliği talep edilsin.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230368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5358384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413248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32180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Diğer görüş / not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Kendi görüşünüzü yazın; rapora aynen geçer.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9728" cy="18288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8B23A"/>
                </a:solidFill>
              </a:rPr>
              <a:t>BÖLÜM 1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</a:rPr>
              <a:t>Öncelikli Gri Alanlar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C8E8"/>
                </a:solidFill>
              </a:rPr>
              <a:t>Bugün tartışılıp oylanacak 8 madde  ·  Tablo A §6'da “Yüksek / Çok Yüksek” öncelikli olarak işaretlenenler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Kapsamlı Tek Amatör Telsizcilik Yönetmeliği ('Part 97 TR')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Amatör telsizcinin hakları tek bir yönetmelikte toplanmadığı için, bir sorunla karşılaştığınızda hangi kurala dayanacağınızı bulmak zor.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2004'te yayımlanan özel yönetmelik (RG 25406) yürürlükten kaldırıldı; yerine geçen tek çatı düzenleme çıkarılmadı. Haklar en az yedi ayrı mevzuattan derleniyor; sahada belirsizlik doğuruyor.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Dağınık mevzuat derleme zinciriyle yönetilebilir; yeni yönetmelik hakları daraltma riski taşır, açılmasın.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Derlemesi: Dernek ve kulüpler bu çalışma gibi mevzuat derlemelerini güncel tutup camiaya yayar.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BTK'dan amatör telsizciliğe özgü tek yönetmelik planı olup olmadığına dair resmî görüş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Kapsamlı tek amatör telsizcilik yönetmeliği ('Part 97 TR') çıkarılması için başvuru yapılır.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GA-1 · Ulusal Değerlendirme Toplantısı · 09.08.2026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GA-BAND-1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A/B/C Sınıfı Yetki Tablosu Belirsizliği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2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Hangi belge sınıfının hangi bantta çalışacağı yayımlanmış durumda — ama yönetmelik hâlâ kaldırılmış eski bir belgeye yönlendiriyor.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230"/>
                </a:solidFill>
              </a:rPr>
              <a:t>Sınıf bazlı yetki tablosu aslında yayımlanmış durumda: FTM Teknik Ölçütler (BTK Kurul Kararı 23.09.2022) Md.22 ve Tablo 25. Sorun, KEGM Sınav Yönetmeliği Md.18’in hâlâ 2018’de mülga edilmiş bir yönetmeliğe atıf yapması ve hakların camiada bilinmemesi. Örnek: 50 MHz’in C sınıfına kapalı olduğu, B sınıfının 40m/10m’de 5W homebrew ile çalışabileceği, B ve C sınıfının gözetim altında tüm bantları kullanabildiği (Md.22 §10) yeterince bilinmiyor.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6732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4962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85876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Dağınık Durumu Koru: TAD + FTM Tablo 25 birlikte okunmaya devam eder.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9310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3754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119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3845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Özet Tablo: Dernek ve kulüpler tek sayfalık 'sınıf × bant' yetki tablosu hazırlar ve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1888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91032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KEGM Resmî Tablo Talebi: KEGM'den tüm sınıfların yetkili bantlarını ve güç limitlerini gösteren resmî belge yayımlanması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4466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42696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6354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4361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CEPT T/R 61-01 Uyum: KEGM Sınav Yönetmeliği'nin CEPT Tier 1/Tier 2 yapısıyla uyumlu kapsamlı güncellemesi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7044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52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618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GA-BAND-1 · Ulusal Değerlendirme Toplantısı · 09.08.2026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GA-RX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Alıcı Cihaz (RX) ile Dinleme Serbestisi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3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Sadece dinlemek — yani hiç yayın yapmamak — yasal mı? Mevzuat bunu açıkça yazmıyor.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Türkiye'de yalnızca dinlemek (sinyal yaymadan) yasal mı? 2813 Kanunu yayın yapmayı düzenler; salt dinlemeye dair açık bir serbesti maddesi yoktur. Bazı frekansları (askeri, emniyet) dinlemek ek riskler taşıyabilir.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Yasal belirsizlik sürsün; pratik risk düşük, bireysel yönetilsin.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Duyurusu: Dernek ve kulüpler 'amatör bantlarda dinleme serbesttir' açıklaması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BTK/KEGM'ye 2813 Md.36 kapsamında RX serbestisi konusunda bağlayıcı olmayan resmî görüş başvurusu yapılır.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2813 Kanunu'na 'salt alım yapan cihazlar lisans muafiyetindedir' maddesi eklenmesi için başvuru.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GA-RX · Ulusal Değerlendirme Toplantısı · 09.08.2026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GA-DIG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Dijital Modlar — FT8, Winlink, APRS (Şifreleme mi?)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4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FT8, Winlink gibi modern dijital modlar resmî emisyon listelerinde yok; kullanımı belirsiz kalıyor.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</a:rPr>
              <a:t>FTM Teknik Ölçütler Md.22 §13, amatör yöntemleri arasında RTTY, SSTV, PSK, PACTOR, AMPR, APRS ve TCP/IP’yi ismen sayar ve yalnızca anlam gizleyen kriptolu iletişimi yasaklar — ITU-RR Md.25 ile aynı doğrultuda. Boşluk, FT8/WSPR/Winlink gibi yeni modların TAD 2021 ve emisyon tipi tablolarına hâlâ işlenmemiş olmasıdır.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758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Kullanımı Sürdür: Açık protokol gerekçesiyle FT8/Winlink/APRS kullanımına devam; bireysel risk düşük.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46804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291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656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382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Teknik Açıklama: Dernek ve kulüpler 'bu modlar şifreleme değildir' teknik notu yayımlar; ITU-RR Md.25 testine atıfta bulunur.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9145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2803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8006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Görüş Talebi: BTK'ya FT8/Winlink/APRS protokollerinin 2813 Md.36 şifreleme yasağı kapsamı dışında olduğuna dair görüş.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71516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538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903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629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FTM'ye Açık Protokol Listesi: FTM/TAD güncellemesine uluslararası amatör standart açık protokollerin listeyle muafiyet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33872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1616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5274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2531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GA-DIG · Ulusal Değerlendirme Toplantısı · 09.08.2026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Anten Kurulumu ve Kat Mülkiyeti (KMK) Çatışması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5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Apartmanda anten kurmak, kat mülkiyeti kuralları yüzünden çoğu zaman mümkün olmuyor.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Amatör anten kurmak isteyen operatör, 634 sayılı KMK Md.19 kapsamında ortak alan değişikliği için kat maliklerinin nitelikli çoğunluğunun onayına takılır. Mevzuatta amatör antene özgü muafiyet veya güvence yoktur; emsal mahkeme kararları dağınıktır.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Uyuşmazlıklar bireysel/mahkeme yoluyla çözülsün.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Emsal Derlemesi: Dernek ve kulüpler, anten uyuşmazlıklarında kullanılabilecek emsal karar derlemesi ve örnek dilekçe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Görüş/Genelge Talep Et: BTK/KEGM'den KMK Md.19 ile çatışmayı açıklayan görüş/genelge; Çevre ve Şehircilik Bakanlığı'na başvuru.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634 KMK veya alt düzenlemede amatör antenine özgü hak/güvence maddesi eklenmesi talebi.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GA-6 · Ulusal Değerlendirme Toplantısı · 09.08.2026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CEPT T/R 61-01/61-02: Yurt Dışı Operasyon ve B/C Sınıfı Boşluğu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6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 sınıfı belgeyle yurt dışında çalışabiliyorsunuz; B ve C sınıfı belgede bu hak yok.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TR, CEPT T/R 61-01 ve 61-02'ye taraftır; A sınıfı, KEGM HAREC belgesiyle yurt dışında çalışabiliyor. B/C sınıfının HAREC muadili yok; yabancı amatörlerin TR'de geçici çalışma usulü mevzuatta tanımsız.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A sınıfına geçiş (sınav) zaten açık bir yol; ek düzenleme gerekmez.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Kılavuzu: Dernek ve kulüpler 'yurt dışında operasyon / HAREC' kullanım kılavuzu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KEGM / Ulaştırma Bakanlığı'ndan B/C sınıfı için HAREC yolu ve yabancı amatör usulü hakkında görüş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CEPT tavsiyelerinin yönetmeliğe işlenmesi ve B/C için kademeli HAREC yolu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GA-3 · Ulusal Değerlendirme Toplantısı · 09.08.2026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GA-CIHAZ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Cihaz Uygunluğu, Piyasa Gözetimi ve Devir Kaydı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7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İnternette belgesiz satılan ucuz telsizlerin çoğu teknik limitleri karşılamıyor; fatura belgeli amatöre çıkıyor.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</a:rPr>
              <a:t>Uygunluk beyanına dayalı rejimde, istenmeyen emisyon limitlerini karşılamayan ucuz verici cihazlar e-ticarette belge kontrolü olmadan satılıyor (BTK 2019'da UV-5R dâhil bazı modelleri güvensiz ilan edip toplattı). Cihaz devrinde bildirim usulü yok; izlenebilirlik zayıf.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758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Piyasa serbestisi sürsün; sorumluluk kullanıcıda kalsın.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46804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291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656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382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Duyurusu: Dernek ve kulüpler 'uyumlu cihaz listesi' ve devir kaydı iyi uygulama rehberi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9145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2803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8006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BTK'dan satışta belge kontrolü ve piyasa gözetimi uygulaması hakkında resmî görüş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71516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538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903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629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Mevzuat/Prosedür: Satışta belge kontrolü, sıkı emisyon denetimi ve devir bildirim usulü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33872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1616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5274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2531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GA-CIHAZ · Ulusal Değerlendirme Toplantısı · 09.08.2026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GA-EMCOMM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Afet Haberleşmesinde Amatörün Rolü: Tanım ve Kapsam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8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Amatör telsiz dernekleri afet haberleşme planında “çözüm ortağı” sayılıyor; ama amatörlere tam olarak hangi görevin verildiği ve bireysel amatörün nasıl dâhil olacağı yazılı değil.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230"/>
                </a:solidFill>
              </a:rPr>
              <a:t>Rol tümüyle tanımsız değil: TAMP ana metninde amatör dernekleri ismen geçmez (genel “STK” kategorisi), ancak Ulusal Düzey Afet Haberleşme Grubu Planı yazışmalarında TRAC 2012, 2015 ve 2024'te ismen “çözüm ortağı” olarak anılır; FTM Md.22 §3-§4 de afette yardım dayanağı verir. Boşluk: (a) görevin somut içeriği (teknik destek / malzeme / operatörlük) kamuya açık değil, (b) bireysel amatör hiç tanımlı değil, (c) 2000 protokolünün güncelliği teyit edilemiyor.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6732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4962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85876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Fiilî iş birliği yeterlidir; ek bir tanım veya protokol aranmasın.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9310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3754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119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3845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Kaydı: Dernek ve kulüpler afet görev tanımlarını, eğitim ve tatbikat kayıtlarını kendileri derleyip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1888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91032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Plan İçeriği Talebi: Ulusal Düzey Afet Haberleşme Grubu Planı’nın amatör telsize ilişkin bölümünün ve amatörlere verilen somut görevin kamuya açıklanması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4466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42696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6354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4361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Kapsam ve Tanım Talebi: Amatörlerin afetteki yetki ve sorumlulukları (teknik destek / malzeme / operatörlük) ile bireysel amatörlerin dâhil olma usulü yazılı olarak tanımlanır; il düzeyinde eşleşme ve tatbikat esasa bağlanır.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7044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52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618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GA-EMCOMM · Ulusal Değerlendirme Toplantısı · 09.08.2026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9728" cy="18288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8B23A"/>
                </a:solidFill>
              </a:rPr>
              <a:t>BÖLÜM 2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</a:rPr>
              <a:t>Diğer Gri Alanlar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C8E8"/>
                </a:solidFill>
              </a:rPr>
              <a:t>Bugün tanıtılacak, oylaması çevrim içi sürecek 14 madde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GA-RX/Kanal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Kanal Hafızasına Yetkisiz Frekans Kaydetme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Telsizinizin hafızasına kaydettiğiniz frekanslar, bir inceleme durumunda aleyhinize yorumlanabiliyor.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Cihaz hafızasına askeri/güvenlik frekansı kaydedilmesi, CMK Md.134 el koyması sonrası 'kasıtlı izleme hazırlığı' kanıtı sayılabilir. Anlık tarama aynı riski taşımaz. Duyurulmamış bir hukuki tuzak.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Kişisel Sorumluluk: Mevcut durumu koru; bilinçlendirme bireysel seviyede kalır.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Frekans Hijyeni Kılavuzu: Dernek ve kulüpler 'cihaz hafızanızı yalnızca amatör bantlarla sınırlı tutun' kılavuzu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Hukuki Risk Duyurusu: CMK/TCK riski hakkında tüm üyelere yazılı resmî uyarı gönderilir.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Muafiyeti: CMK Md.134 kapsamında telsiz cihaz hafızasının 'teknik not' sayılması için yasal düzenleme.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GA-RX/Kanal · Ulusal Değerlendirme Toplantısı · 09.08.2026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Remote Telsiz Nodu ve İnternet-RF Köprüsü (EchoLink, WebSDR)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Telsiz sinyalini internete bağlamak (EchoLink gibi) telsiz mevzuatında açıkça serbest; belirsizlik yayın mevzuatı tarafında.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</a:rPr>
              <a:t>FTM Teknik Ölçütler Md.22 §12, amatörlerin “internet-telsiz arayüzü kullanan” faaliyetlerde bulunabileceğini açıkça düzenler; telsiz mevzuatı bakımından EchoLink/AllStar/WebSDR izinlidir. Belirsizlik 6112 sayılı Kanun tarafındadır: aynı trafik “yayın” sayılırsa RTÜK boyutu doğar. BTK ile RTÜK yorumları ayrışmaktadır.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758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Toleransı Koru: BTK harekete geçmediği sürece mevcut durumu sürdür; risk bireysel yönetilir.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46804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291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656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382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İyi Uygulama Standardı: Dernekler EchoLink/AllStar için 'teknik etik kodu' belirler (callsign zorunluluğu, link log tutma vb.).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9145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2803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8006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BTK/RTÜK Görüş Talebi: İnternet-RF köprüsünün 6112 Kanunu kapsamı dışında olduğuna dair resmî görüş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71516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538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903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629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FTM'ye Düzenleme: FTM/TAD güncellemesine 'internet-RF arayüzü kullanan amatör sistemler'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33872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1616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5274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2531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GA-NODE · Ulusal Değerlendirme Toplantısı · 09.08.2026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GA-CROSS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Bireysel Cross-Band ve Geçici Röle İşletimi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Röle kurma hakkı yalnızca derneklere verilmiş; bireysel amatör kendi rölesini kuramıyor.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 işletimi yalnızca tüzel kişiliğe sahip derneklere verilmiştir. Bireysel cross-band bağlantısı teknik olarak 'röle' sayılır. Acil durumda ihtiyaç duyulduğunda bireysel geçici işletim fiilen yasadışıdır.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Şartı Koru: Dernek şartı değişmesin; cross-band kullanımı 'dernek üyesi/gözetiminde' sınırlı kalsın.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Acil Durum SOP: Kulüpler 'acil cross-band' standart işletim prosedürü yayımlar; dernek onaylı geçici etiket sistemi.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Geçici Muafiyet Talebi: KEGM'den AFAD/112 koordinasyonlu durumlarda bireysel geçici cross-band için prosedür.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 Değişikliği: FTM'ye 'acil durum kapsamında bireysel cross-band geçici işletim muafiyeti'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GA-CROSS · Ulusal Değerlendirme Toplantısı · 09.08.2026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POC Cihazları ve Amatör Telsiz Tanımının Yanlış Kullanımı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4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Cep telefonu şebekesiyle çalışan cihazlar amatör telsiz değildir; ama öyle pazarlanıyor.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Standart Push-to-Talk over Cellular (POC/Zello) cihazlar amatör banttaki RF'le çalışmaz; ITU-RR tanımına göre amatör telsiz değildir. Bazı satıcılar bunları 'lisanssız telsiz' olarak pazarlamaktadır. Alıcılar mağdur olabilir.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Pazara Bırak: Tüketici hakkı mekanizmaları sorunu çözene dek müdahale yok.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Uyarısı: Dernek ve kulüpler 'POC amatör telsiz değildir' açıklaması yayımlar; medyaya duyurulur.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Sektör Uyarısı: BTK'ya hatalı pazarlama konusunda şikâyet; BTK'nın e-ticaret platformlarına uyarı yönlendirmesi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Tüketici Bildirimi: TÜKAS/Rekabet Kurumu'na sistematik şikâyet; sahte ürün kaydına karşı hukuki girişim.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GA-POC · Ulusal Değerlendirme Toplantısı · 09.08.2026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GA-ENFORC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Röle Mandalcılığı ve Uygulama Asimetrisi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Röleyi kasten bloke edeni tespit etmek zor; oysa belgeli amatör her zaman denetlenebiliyor.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 bloke eden (mandalcı) bireylerin tespiti teknik olarak güçtür; BTK yalnızca lisanslı operatörlere karşı işlem yapabilir. Anonim girişimciler fiilen dokunulmazdır. 'Frekans polisi' olarak bilinen bireysel yaptırımın yasal dayanağı yoktur.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Uygulama asimetrisi kabul edilir; topluluk sosyal baskıyla yönetir.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 Etik Kodu: Kulüpler kendi röleleri için etik işletim kodu + şikâyet mekanizması oluşturur.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Tavsiye Kararı: BTK'ya röle erişim hakkı ve etik işletim için sektör rehberi/tavsiye kararı talebi.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Düzenlemesi: KEGM Yönetmeliği'ne röle erişim hakkı ve ihlal prosedürü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GA-ENFORC · Ulusal Değerlendirme Toplantısı · 09.08.2026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GA-BAND-2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4m Bandı (70–70,5 MHz) — Türkiye'de Tahsis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6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70 MHz (4 metre) bandı bazı Avrupa ülkelerinde amatörlere açık; Türkiye'de hiç tahsis edilmemiş.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70–70,5 MHz CEPT üyesi bazı ülkelerde (GB, IE, NL, SK, DK) ikincil amatör tahsislidir. BTK Milli Frekans Planı'nda amatör tahsis yoktur.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70 MHz bandı amatör dışında kalsın.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Bilgi Sunumu: BTK'ya CEPT ülkelerindeki 70 MHz amatör kullanımı hakkında teknik bilgi sunumu yapılır.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MFP Tahsis Talebi: BTK'ya 70,0–70,5 MHz bandının Milli Frekans Planı'na ikincil amatör tahsis olarak eklenmesi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ECC Çerçevesinde Müzakere: Dernek ve kulüpler, BTK aracılığıyla ECC'ye Türkiye adına 70 MHz ikincil tahsis talebini iletir.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GA-BAND-2 · Ulusal Değerlendirme Toplantısı · 09.08.2026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GA-BAND-3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Mikrodalga Bantları (2,4 / 5,7 / 10 / 24 GHz) — MFP Var, TAD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7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Mikrodalga bantlar frekans planında amatörlere ayrılmış, ama teknik şartları hiç yazılmamış.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MFP bazı mikrodalga bantlarını ikincil amatör tahsisli listeler; ancak TAD 2021 bu bantlar için teknik parametreler içermiyor. 2,4 GHz hem WiFi SRD hem amatör alanda bulunuyor.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Mikrodalga kullanımı pratikte sorunsuz sürsün.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Kullanım Rehberi: Dernek ve kulüpler 'mikrodalga amatör kullanım rehberi' yayımlar; IARU R1 bandplan referansıyla.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TAD Parametresi Talebi: BTK'ya MFP'deki ikincil amatör tahsisli bantlar için TAD 2021'e ek teknik parametre maddesi eklenmesi.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Öncelikli 2,4 GHz TAD: En yaygın kullanım olduğu için 2,4 GHz'i öncelikli hedef olarak BTK'ya sunar; diğer bantlar ikincil adımda ele alınır.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GA-BAND-3 · Ulusal Değerlendirme Toplantısı · 09.08.2026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GA-ARAC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Araçta Amatör Telsiz Kullanımı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Araca telsiz takmak ve sürüş sırasında kullanmak konusunda net bir kılavuz yok.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 Tablo 25 amatör telsizi 'sabit, araç ve el telsizlerini' kapsar; araç telsizi FTM muafiyetindedir. Ancak sabit anten montajı, sürüş sırasında el telsizi tutma ve kurumsal araç izni konusunda belirsizlik vardır.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Belirsizliği Koru: Pratik sorun nadir; bireysel sorumluluk yeterli.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Araç Montaj Kılavuzu: Dernek ve kulüpler 'amatör araç telsiz montaj ve kullanım kılavuzu' yayımlar; mag-mount önerir, sürüşte hands-free vurgular.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Duyuru Talebi: BTK'dan mobil amatör istasyon anten montajı ve trafik mevzuatı konusunda net duyuru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KTK/FTM Net Düzenleme: 2918 KTK Md.29 ve FTM kapsamında araç amatör istasyonu için net yasal çerçeve talebi.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GA-ARAC · Ulusal Değerlendirme Toplantısı · 09.08.2026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GA-POTA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Park Aktivasyonu (POTA) — Arazi Kullanım İzinleri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Parkta veya ormanda telsiz kurmak için hangi kurumdan izin alınacağı belli değil.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 muafiyeti frekans spektrumunu kapsar; arazi kullanım izni ayrıdır. Milli park, devlet ormanı, belediye parkı ve kıyı gibi farklı arazi türlerinde hangi kuruma başvurulacağı belirsizdir.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Bireysel Sorumluluk: Her aktivatör kendi araştırmasını yapar; mevcut tolerans yeterli.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İzin Rehberi: Dernek ve kulüpler 'POTA izin rehberi' yayımlar: arazi türüne göre hangi kuruma başvurulur tablosuyla.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Bakanlıklarla Protokol: Tarım ve Orman Bakanlığı + ÇŞİB ile dernek ve kulüpler arasında aktivasyonu kolaylaştırıcı ortak protokol.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Tebliğ Talebi: BTK'nın FTM muafiyetinin arazi iznini kapsamadığını açıklayan resmî tebliğ yayımlaması; arazi sahiplerine bildirim.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GA-POTA · Ulusal Değerlendirme Toplantısı · 09.08.2026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GA-AREDN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AREDN Amatör Mesh Ağı (2,4 / 5,8 GHz)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WiFi donanımıyla amatör bantta mesh ağ kurmak teknik olarak mümkün, hukuken belirsiz.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AREDN, değiştirilmiş WiFi donanımıyla 2,4 ve 5,8 GHz amatör bantlarda mesh ağ kurar. Türkiye'de bu bantlar ikincil amatör tahsisli; ancak TAD'da teknik parametre yoktur. 2,4 GHz hem WiFi SRD hem amatör bant.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Amatör Lisansla Kullan: A/B sınıfı lisansla, amatör çağrı işareti yayınlayarak kullanım mevcut haliyle sürsün.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AREDN Rehberi: Dernek ve kulüpler Türkiye AREDN kullanım rehberi ve ağ koordinasyon noktası oluşturur.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TAD Parametre Talebi: BTK'ya 2,4/5,8 GHz amatör kullanımı için TAD 2021'e teknik parametre maddesi eklenmesi.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Firmware=Kendi İmalatı Açıklaması: KEGM'den 'firmware değiştirilen ticari donanım kendi imalatı sayılır mı?' sorusuna resmî yanıt.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GA-AREDN · Ulusal Değerlendirme Toplantısı · 09.08.2026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LoRa / Meshtastic / LoRa-APRS — 433/868/915 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LoRa/Meshtastic'te hangi frekansın lisanssız, hangisinin amatör olduğu karışıyor. 915 MHz Türkiye'de yasa dışı.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Türkiye'de 868 MHz FTM-muaf SRD (lisanssız, 25 mW). 433 MHz FTM-muaf SRD (10 mW) ancak amatör band. 915 MHz Türkiye'de GSM/LTE spektrumu — YASADIŞI. LoRa-APRS TX callsign ile amatör operasyon sayılır.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Kullanıcılar kendi araştırmasını yapar; 868 MHz zaten yasal.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Kulüp Duyurusu: Dernek ve kulüpler '915 MHz Türkiye'de yasadışı; 868 MHz kullanın' duyurusu yayımlar; Meshtastic topluluğuna iletir.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Sektör Uyarısı: BTK'ya 915 MHz preset'li ithal cihazlar için tüketici uyarısı ve e-ticaret platformlarına bildirim talebi.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LoRa-APRS TX Muafiyeti: FTM düzenlemesine callsign içeren LoRa-APRS iletimlerinin SRD muafiyeti kapsamında kalması için madde.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GA-LORA · Ulusal Değerlendirme Toplantısı · 09.08.2026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Yurt Dışı Geçici Cihaz Çıkışı (Gümrük)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Telsizinizle yurt dışına çıkarken gümrükte izleyeceğiniz standart bir prosedür yok.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Amatör telsizcinin seyahatte cihazını yurt dışına çıkarması için standart bir gümrük prosedürü yoktur. Gümrük Yönetmeliği Ek-71 kullanılmakla birlikte uygulama il bazında değişir; CEPT karşılıklı tanıma (T/R 61-01) da TR'de uygulanmaz.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Ek-71 ile bireysel çözüm sürsün; sorun nadir yaşanır.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Rehber: Dernek ve kulüpler 'yurt dışına telsiz çıkışı' kılavuzu yayımlar (Ek-71 örneği, ATA Karnesi bilgisi).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Ticaret Bakanlığı / Gümrükler Genel Müdürlüğü'nden amatör cihazların geçici çıkışı için standart prosedür görüşü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Prosedür Düzenlemesi: Amatör cihazların geçici çıkışı için standart gümrük prosedür belgesi ve CEPT T/R 61-01 uyumu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GA-4 · Ulusal Değerlendirme Toplantısı · 09.08.2026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Silent Key, Çağrı İşareti Yaşam Döngüsü ve Vesayet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Vefat eden amatörün çağrı işareti dar şartlarla varise geçebiliyor; süre dolduktan sonrası belirsiz.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Belge iptalinde (vefat dâhil) çağrı işareti 10 yıl pasif tutulur, devredilemez. SK'nın resmî tanımı, 10 yıl sonrası akıbet ve aileye/kulübe 'in memoriam' vesayet yolu tanımsızdır. 'Babadan oğla geçme' fiilî bir taleptir; hukuki dayanağı yoktur.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10 yıl pasif kural sürsün; çağrı işareti devredilemez kalsın.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Kılavuzu: Dernek ve kulüpler SK terminolojisi, saygı protokolü ve vesayet önerilerini içeren kılavuz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KEGM'den 10 yıl sonrası akıbet ve aileye/kulübe in-memoriam vesayet usulü için resmî görüş.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Düzenlemesi: Çağrı işareti yaşam döngüsü + vesayet tanımlansın — süre (koru/uzat/kısalt/kaldır) ve devir (devredilemez / şartlı aile-kulüp / süre sonu serbest / kalıcı anıt) seçenekleriyle.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GA-SK · Ulusal Değerlendirme Toplantısı · 09.08.2026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Bölge Değişikliğinde Çağrı İşareti ve Taşınabilirlik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14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Başka şehre taşınınca çağrı işaretinizi korumak mümkün — ama bu kural yeterince bilinmiyor.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Bölgeye taşınınca 3 ay içinde başvuru zorunlu; ya yeni çağrı ya '/bölge' ile koruma (ör. TA3A/4). 3 ay başvuru yükü, '/bölge' korumasının kalıcı kabulü belirsiz; afet göçüyle kural fiilen işlemiyor. (Tam farklı işarete geçiş zorunlu değildir.)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3 ay + yeni çağrı ya da /bölge kuralı sürsün.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Kılavuzu: Dernek ve kulüpler '/bölge ile koruma' hakkını ve 'zorunlu tam değişim' yanlış algısının düzeltilmesini anlatan kılavuz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KEGM'den kalıcı ikamette '/bölge' korumasının süresiz kabulü, 3 ay yükünün hafifletilmesi ve afet muafiyeti için resmî görüş.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Bölge tabanlı yeniden tahsis kalksın; çağrı işareti ülke genelinde taşınabilir olsun.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GA-CALL · Ulusal Değerlendirme Toplantısı · 09.08.2026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Oylama, sayım ve sonrası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A1B3D"/>
                </a:solidFill>
              </a:rPr>
              <a:t>SAYIM USULÜ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Her katılımcı kendi pusulasını işaretler; çağrı işareti ile teslim eder.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Her gri alan için seçenekler ayrı ayrı sayılır.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En çok işaretlenen seçenek “topluluk tercihi” olarak kaydedilir.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Yakın sonuçlarda her iki görüş de rapora yazılır.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“E” ile yazılan görüşler aynen rapora eklenir.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A1B3D"/>
                </a:solidFill>
              </a:rPr>
              <a:t>SONRAKİ ADIMLAR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+1 hafta   </a:t>
            </a:r>
            <a:r>
              <a:rPr sz="1350">
                <a:solidFill>
                  <a:srgbClr val="1B2230"/>
                </a:solidFill>
              </a:rPr>
              <a:t>Çevrim içi oylama kalan 14 madde için açılır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+2 hafta   </a:t>
            </a:r>
            <a:r>
              <a:rPr sz="1350">
                <a:solidFill>
                  <a:srgbClr val="1B2230"/>
                </a:solidFill>
              </a:rPr>
              <a:t>Sayım sonuç raporu yayımlanır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+3 hafta   </a:t>
            </a:r>
            <a:r>
              <a:rPr sz="1350">
                <a:solidFill>
                  <a:srgbClr val="1B2230"/>
                </a:solidFill>
              </a:rPr>
              <a:t>Tablo B dilekçeleri topluluk tercihine göre güncellenir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+1 ay   </a:t>
            </a:r>
            <a:r>
              <a:rPr sz="1350">
                <a:solidFill>
                  <a:srgbClr val="1B2230"/>
                </a:solidFill>
              </a:rPr>
              <a:t>Kurum başvuruları yapılır ve süreç kamuya açık izlenir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532120"/>
            <a:ext cx="10835640" cy="658368"/>
          </a:xfrm>
          <a:prstGeom prst="rect">
            <a:avLst/>
          </a:prstGeom>
          <a:solidFill>
            <a:srgbClr val="FFF6E0"/>
          </a:solidFill>
          <a:ln w="9525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3270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</a:rPr>
              <a:t>Tüm belgeler ve sayım sonuçları açık olarak yayımlanır: github.com/TA3HRJ/amator-telsiz-mevzuat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400" b="1" i="1">
                <a:solidFill>
                  <a:srgbClr val="E8B23A"/>
                </a:solidFill>
              </a:rPr>
              <a:t>Birlikte daha güçlü bir amatör telsizcilik için!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</a:rPr>
              <a:t>Katkınız, sorunuz ve itirazınız değerlidir.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A8C8E8"/>
                </a:solidFill>
              </a:rPr>
              <a:t>Toplantı Yöneticisi: Ertuğ ÖZBİL (TA1PB)      ·      Proje Yöneticisi: H. Erhan ÖZKAN (TA3HRJ)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B23A"/>
                </a:solidFill>
              </a:rPr>
              <a:t>github.com/TA3HRJ/amator-telsiz-mevzuat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A6678"/>
                </a:solidFill>
              </a:rPr>
              <a:t>Bu sunum hukuki tavsiye değildir; taslak niteliğindedir. Bu çalışma herhangi bir derneğe rol atfetmez.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Kurumlar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BTK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Bilgi Teknolojileri ve İletişim Kurumu. Frekansları planlar, telsiz cihazlarının kurallarını koyar, denetim yapar.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KEGM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5740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Kıyı Emniyeti Genel Müdürlüğü. Amatör telsiz sınavlarını yapar, belge ve çağrı işareti verir.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635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RTÜK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8036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Radyo ve Televizyon Üst Kurulu. Yayın (broadcast) faaliyetlerini denetler.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3931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AFAD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70332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Afet ve Acil Durum Yönetimi Başkanlığı. Afet müdahalesini ulusal düzeyde koordine eder.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6227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CMK Md.134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2628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Ceza Muhakemesi Kanunu'nun bilgisayar/cihaz incelemesine ilişkin maddesi; el konulan cihazın içeriği incelenebilir.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Uluslararası Kuruluşlar ve Belgeler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ITU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Uluslararası Telekomünikasyon Birliği. BM'ye bağlı; dünyadaki frekans kullanımının ana kurallarını koyar.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5740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Avrupa Posta ve Telekomünikasyon İdareleri Konferansı. Avrupa ülkelerinin ortak telekom kararlarını aldığı yapı.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635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IARU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8036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Uluslararası Amatör Telsizciler Birliği. Amatörleri uluslararası düzeyde temsil eder.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3931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HAREC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70332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Avrupa'da ortak kabul edilen amatör telsiz sınav belgesi. Türkiye'de yalnızca A sınıfına veriliyor.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6227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EMCOMM / MOU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2628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EMCOMM: afet ve acil durum haberleşmesi. MOU: kurumlar arası resmî iş birliği protokolü.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Mevzuat Terimleri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Kanun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TBMM'nin çıkardığı en üst düzey kural. Örn. 5809 sayılı Elektronik Haberleşme Kanunu.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0195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Yönetmelik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Kanunun uygulanmasını gösteren, bakanlık veya kurumca çıkarılan ayrıntılı düzenleme.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3347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Kurul Kararı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9748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Bir kurumun (örn. BTK) karar organının aldığı, yönetmelikten aldığı yetkiye dayanan bağlayıcı karar.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Resmî Gazete (RG)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42900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Düzenlemelerin resmen yayımlandığı devlet yayını. RG sayısı bir belgenin kimliği gibidir.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9651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Mülga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6052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Yürürlükten kaldırılmış. Mülga bir düzenlemeye dayanarak hak veya yükümlülük ileri sürülemez.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2803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Gri alan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89204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Kural ya hiç yok, ya belirsiz, ya da farklı yorumlanabiliyor — uygulamada tereddüt doğuran konu.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Teknik Terimler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FTM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Frekans Tahsisinden Muaf. Ruhsat ve frekans tahsisi gerektirmeden kullanılabilen cihaz ve sistemler rejimi.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Teknik Ölçütler / Tablo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BTK'nın FTM kapsamındaki cihazlar için yayımladığı ayrıntılı teknik kurallar. Tablo 25 amatör bant, güç ve sınıf yetkilerini gösterir.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5059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TAD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1460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Telsiz Arayüz Özellikleri Dokümanı. Bir bandın hangi teknik şartlarla kullanılacağını tanımlar.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9067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MFP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15468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Millî Frekans Planı. Hangi frekans aralığının hangi hizmete ayrıldığını gösteren ulusal plan.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3075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Emisyon tipi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79476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Sinyalin türünü gösteren uluslararası kod. Örn. A1A = mors, J3E = SSB 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708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SRD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4348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Kısa Menzilli Cihaz. Düşük güçlü, lisanssız, girişime karşı korumasız cihaz kategorisi (LoRa, kapı kumandası vb.).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109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ERP / PEP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0749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Antenden yayılan etkin güç (ERP) ve tepe zarf gücü (PEP). Bant başına azami değerler tablolarda belirtilir.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Amatör Telsiz Terimleri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Röle (tekrarlayıcı)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Yüksek bir noktaya kurulup zayıf sinyalleri alıp güçlendirerek yeniden yayan istasyon; menzili büyütür.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Cross-band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Bir bantta alıp başka bir bantta yeniden iletme.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5059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EchoLink / WebSDR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1460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Telsiz sinyalini internet üzerinden taşıyan veya internetten dinlenebilir kılan sistemler.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9067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APRS / digipeater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15468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Konum ve kısa veri paketleri gönderen sistem; digipeater bu paketleri tekrarlayan istasyondur.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3075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POC cihaz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79476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Cep telefonu şebekesi üzerinden konuşulan cihaz. Amatör frekans kullanmaz; amatör telsiz değildir.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708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AREDN mesh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4348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Değiştirilmiş WiFi donanımıyla amatör bantlarda kurulan veri ağı.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109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Silent Key (SK)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0749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Vefat etmiş amatör telsizci için kullanılan geleneksel ifade.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5099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Röle mandalcılığı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71500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Röleyi kasten meşgul ederek başkalarının kullanmasını engelleme.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