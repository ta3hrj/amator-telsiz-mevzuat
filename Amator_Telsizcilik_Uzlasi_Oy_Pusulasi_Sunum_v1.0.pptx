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258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300">
                <a:solidFill>
                  <a:srgbClr val="9DB2E8"/>
                </a:solidFill>
                <a:latin typeface="Calibri"/>
              </a:rPr>
              <a:t>TÜRK AMATÖR TELSİZCİLİĞİ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mbria"/>
              </a:rPr>
              <a:t>Gri Alan ve Mevzuat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mbria"/>
              </a:rPr>
              <a:t>Uzlaşı Oy Pusulası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79476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Toplantı Sunumu  ·  22 Gri Alan  ·  Her biri için A / B / C / D / E oylaması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DB2E8"/>
                </a:solidFill>
                <a:latin typeface="Calibri"/>
              </a:rPr>
              <a:t>Bu belge, yapay zekâ çıkarımları yerine amatör telsiz topluluğunun kendi iradesini belirlemesi amacıyla hazırlanmıştır.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Nasıl Oy Kullanılır?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Calibri"/>
              </a:rPr>
              <a:t>Her gri alan (GA) için size uygun seçeneği işaretleyin.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Birden fazla seçenek işaretleyebilirsiniz. </a:t>
            </a:r>
            <a:r>
              <a:rPr sz="1500" b="0" i="0">
                <a:solidFill>
                  <a:srgbClr val="374151"/>
                </a:solidFill>
                <a:latin typeface="Calibri"/>
              </a:rPr>
              <a:t>'E — Diğer' kutusuna kendi görüşünüzü yazabilirsiniz. Oylar toplantı sonunda toplanır ve sayılır.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6B7280"/>
                </a:solidFill>
                <a:latin typeface="Calibri"/>
              </a:rPr>
              <a:t>SEÇENEK ANLAMLARI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331720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Mevcut durumu koru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81527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81527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81527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Topluluk öz-düzenlemesi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31335"/>
            <a:ext cx="502920" cy="5029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31335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831335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Kurumdan yazılı görüş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81144"/>
            <a:ext cx="502920" cy="5029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811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81144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Mevzuat değişikliği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330952"/>
            <a:ext cx="502920" cy="502920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3095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30952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Diğer görüş / not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Gündem — 22 Gri Alan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280160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Tek çatı yönetmelik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83664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83664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883664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CEPT / B-C sınıfı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87168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487168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Dinleme serbestisi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90672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90672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GA-RX/Kanal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90672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Kanal hafızası riski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94176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94176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GA-NODE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94176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İnternet-RF köprüsü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97680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GA-CROSS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297680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Cross-band / röle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01183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01183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GA-POC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901183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POC cihazları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504688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504688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GA-DIG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504688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Dijital modlar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1280160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1280160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GA-ENFORC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1280160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Röle mandalcılığı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34840" y="1883664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1883664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GA-BAND-1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1883664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Sınıf yetki tablosu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4840" y="2487168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487168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GA-BAND-2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0" y="2487168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4m bandı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34840" y="3090672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090672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GA-BAND-3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0" y="3090672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Mikrodalga bantları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34840" y="3694176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3694176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GA-ARAC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0" y="3694176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Araçta kullanım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34840" y="4297680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4840" y="4297680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GA-POTA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60720" y="4297680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POTA arazi izni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34840" y="4901183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34840" y="4901183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GA-AREDN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4901183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Mesh ağı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34840" y="5504688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4840" y="5504688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GA-LORA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720" y="5504688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LoRa / Meshtastic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0" y="1280160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0" y="1280160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55480" y="1280160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Gümrük geçici çıkış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229600" y="1883664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0" y="1883664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5480" y="1883664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Anten &amp; kat mülkiyeti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229600" y="2487168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0" y="2487168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GA-SK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5480" y="2487168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Silent Key / vesayet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229600" y="3090672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3090672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GA-CALL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55480" y="3090672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Çağrı işareti taşınabilirliği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29600" y="3694176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0" y="3694176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GA-CIHAZ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55480" y="3694176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Cihaz uygunluğu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4297680"/>
            <a:ext cx="1234440" cy="402336"/>
          </a:xfrm>
          <a:prstGeom prst="roundRect">
            <a:avLst>
              <a:gd name="adj" fmla="val 1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0" y="4297680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E2761"/>
                </a:solidFill>
                <a:latin typeface="Calibri"/>
              </a:rPr>
              <a:t>GA-EMCOMM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55480" y="4297680"/>
            <a:ext cx="2286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AFAD MOU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Kapsamlı Tek Amatör Telsizcilik Yönetmeliği ('Part 97 TR')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2004'te yayımlanan özel yönetmelik (RG 25406) yürürlükten kaldırıldı; yerine geçen tek çatı düzenleme çıkarılmadı. Haklar en az yedi ayrı mevzuattan derleniyor; sahada belirsizlik doğuruyor.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Dağınık mevzuat derleme zinciriyle yönetilebilir; yeni yönetmelik hakları daraltma riski taşır, açılmasın.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Topluluk Derlemesi: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bu çalışma gibi mevzuat derlemelerini güncel tutup camiaya yayar.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Yazılı Görüş Talep Et: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BTK'dan amatör telsizciliğe özgü tek yönetmelik planı olup olmadığına dair resmî görüş istenir.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Mevzuat Değişikliği: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Kapsamlı tek amatör telsizcilik yönetmeliği ('Part 97 TR') çıkarılması için başvuru yapılır.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CEPT T/R 61-01/61-02: Yurt Dışı Operasyon ve B/C Sınıfı Boşluğu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TR, CEPT T/R 61-01 ve 61-02'ye taraftır; A sınıfı, KEGM HAREC belgesiyle yurt dışında çalışabiliyor. B/C sınıfının HAREC muadili yok; yabancı amatörlerin TR'de geçici çalışma usulü mevzuatta tanımsız.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A sınıfına geçiş (sınav) zaten açık bir yol; ek düzenleme gerekmez.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Topluluk Kılavuzu: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'yurt dışında operasyon / HAREC' kullanım kılavuzu yayımlar.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Yazılı Görüş Talep Et: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KEGM / Ulaştırma Bakanlığı'ndan B/C sınıfı için HAREC yolu ve yabancı amatör usulü hakkında görüş istenir.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Mevzuat Değişikliği: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CEPT tavsiyelerinin yönetmeliğe işlenmesi ve B/C için kademeli HAREC yolu talep edilir.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Alıcı Cihaz (RX) ile Dinleme Serbestisi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Türkiye'de yalnızca dinlemek (sinyal yaymadan) yasal mı? 2813 Kanunu yayın yapmayı düzenler; salt dinlemeye dair açık bir serbesti maddesi yoktur. Bazı frekansları (askeri, emniyet) dinlemek ek riskler taşıyabilir.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Yasal belirsizlik sürsün; pratik risk düşük, bireysel yönetilsin.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Topluluk Duyurusu: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'amatör bantlarda dinleme serbesttir' açıklaması yayımlar.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Yazılı Görüş Talep Et: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BTK/KEGM'ye 2813 Md.36 kapsamında RX serbestisi konusunda bağlayıcı olmayan resmî görüş başvurusu yapılır.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Mevzuat Değişikliği: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2813 Kanunu'na 'salt alım yapan cihazlar lisans muafiyetindedir' maddesi eklenmesi için başvuru.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GA-RX/Kanal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Kanal Hafızasına Yetkisiz Frekans Kaydetme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Cihaz hafızasına askeri/güvenlik frekansı kaydedilmesi, CMK Md.134 el koyması sonrası 'kasıtlı izleme hazırlığı' kanıtı sayılabilir. Anlık tarama aynı riski taşımaz. Duyurulmamış bir hukuki tuzak.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Kişisel Sorumluluk: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Mevcut durumu koru; bilinçlendirme bireysel seviyede kalır.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Frekans Hijyeni Kılavuzu: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'cihaz hafızanızı yalnızca amatör bantlarla sınırlı tutun' kılavuzu yayımlar.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Hukuki Risk Duyurusu: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CMK/TCK riski hakkında tüm üyelere yazılı resmî uyarı gönderilir.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Mevzuat Muafiyeti: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CMK Md.134 kapsamında telsiz cihaz hafızasının 'teknik not' sayılması için yasal düzenleme.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Remote Telsiz Nodu ve İnternet-RF Köprüsü (EchoLink, WebSDR)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EchoLink/AllStar gibi internet-RF köprüleri amatör bantta yayın yapar; WebSDR alınan sinyali internete açar. Her ikisi de RTÜK 6112 Kanunu'ndaki 'ses yayını' tanımına girebilir. Bugüne kadar BTK harekete geçmemiştir.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Toleransı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 harekete geçmediği sürece mevcut durumu sürdür; risk bireysel yönetilir.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İyi Uygulama Standardı: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Dernekler EchoLink/AllStar için 'teknik etik kodu' belirler (callsign zorunluluğu, link log tutma vb.).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BTK/RTÜK Görüş Talebi: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İnternet-RF köprüsünün 6112 Kanunu kapsamı dışında olduğuna dair resmî görüş talep edilir.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FTM'ye Düzenleme: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FTM/TAD güncellemesine 'internet-RF arayüzü kullanan amatör sistemler' maddesi eklenmesi.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5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Bireysel Cross-Band ve Geçici Röle İşletimi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Röle işletimi yalnızca tüzel kişiliğe sahip derneklere verilmiştir. Bireysel cross-band bağlantısı teknik olarak 'röle' sayılır. Acil durumda ihtiyaç duyulduğunda bireysel geçici işletim fiilen yasadışıdır.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Şartı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şartı değişmesin; cross-band kullanımı 'dernek üyesi/gözetiminde' sınırlı kalsın.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Acil Durum SOP: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Kulüpler 'acil cross-band' standart işletim prosedürü yayımlar; dernek onaylı geçici etiket sistemi.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Geçici Muafiyet Talebi: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KEGM'den AFAD/112 koordinasyonlu durumlarda bireysel geçici cross-band için prosedür.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FTM Değişikliği: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FTM'ye 'acil durum kapsamında bireysel cross-band geçici işletim muafiyeti' maddesi eklenmesi.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6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POC Cihazları ve Amatör Telsiz Tanımının Yanlış Kullanımı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Standart Push-to-Talk over Cellular (POC/Zello) cihazlar amatör banttaki RF'le çalışmaz; ITU-RR tanımına göre amatör telsiz değildir. Bazı satıcılar bunları 'lisanssız telsiz' olarak pazarlamaktadır. Alıcılar mağdur olabilir.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Pazara Bırak: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Tüketici hakkı mekanizmaları sorunu çözene dek müdahale yok.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Topluluk Uyarısı: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'POC amatör telsiz değildir' açıklaması yayımlar; medyaya duyurulur.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BTK Sektör Uyarısı: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BTK'ya hatalı pazarlama konusunda şikâyet; BTK'nın e-ticaret platformlarına uyarı yönlendirmesi talep edilir.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Tüketici Bildirimi: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TÜKAS/Rekabet Kurumu'na sistematik şikâyet; sahte ürün kaydına karşı hukuki girişim.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GA-DIG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Dijital Modlar — FT8, Winlink, APRS (Şifreleme mi?)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2813 Kanunu ve FTM, 'anlam gizleme' amacıyla şifrelemeyi yasaklar. FT8, Winlink (Open B2F), APRS gibi modlar açık ve belgelidir; ITU-RR Md.25 testini karşılar. Ancak BTK yorumu henüz netleşmemiştir.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Kullanımı Sürdür: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Açık protokol gerekçesiyle FT8/Winlink/APRS kullanımına devam; bireysel risk düşük.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Teknik Açıklama: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'bu modlar şifreleme değildir' teknik notu yayımlar; ITU-RR Md.25 testine atıfta bulunur.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BTK Görüş Talebi: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BTK'ya FT8/Winlink/APRS protokollerinin 2813 Md.36 şifreleme yasağı kapsamı dışında olduğuna dair görüş.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FTM'ye Açık Protokol Listesi: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FTM/TAD güncellemesine uluslararası amatör standart açık protokollerin listeyle muafiyet maddesi eklenmesi.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GA-ENFORC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Röle Mandalcılığı ve Uygulama Asimetrisi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Röle bloke eden (mandalcı) bireylerin tespiti teknik olarak güçtür; BTK yalnızca lisanslı operatörlere karşı işlem yapabilir. Anonim girişimciler fiilen dokunulmazdır. 'Frekans polisi' olarak bilinen bireysel yaptırımın yasal dayanağı yoktur.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Uygulama asimetrisi kabul edilir; topluluk sosyal baskıyla yönetir.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Röle Etik Kodu: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Kulüpler kendi röleleri için etik işletim kodu + şikâyet mekanizması oluşturur.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BTK Tavsiye Kararı: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BTK'ya röle erişim hakkı ve etik işletim için sektör rehberi/tavsiye kararı talebi.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Mevzuat Düzenlemesi: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KEGM Yönetmeliği'ne röle erişim hakkı ve ihlal prosedürü maddesi eklenmesi.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GA-BAND-1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A/B/C Sınıfı Yetki Tablosu Belirsizliği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Her sınıfın yetkili bantları ve maksimum güç değerleri tek bir resmî belgede yer almıyor. Örnek: 50 MHz'in C sınıfına kapalı olduğu, B sınıfının 40m ve 10m'de 5W homebrew ile çalışabileceği yeterince bilinmiyor.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Dağınık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TAD + FTM Tablo 25 birlikte okunmaya devam eder.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Özet Tablo: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tek sayfalık 'sınıf × bant' yetki tablosu hazırlar ve yayımlar.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KEGM Resmî Tablo Talebi: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KEGM'den tüm sınıfların yetkili bantlarını ve güç limitlerini gösteren resmî belge yayımlanması talep edilir.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CEPT T/R 61-01 Uyum: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KEGM Sınav Yönetmeliği'nin CEPT Tier 1/Tier 2 yapısıyla uyumlu kapsamlı güncellemesi talep edilir.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GA-BAND-2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4m Bandı (70–70,5 MHz) — Türkiye'de Tahsis Yok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70–70,5 MHz CEPT üyesi bazı ülkelerde (GB, IE, NL, SK, DK) ikincil amatör tahsislidir. BTK Milli Frekans Planı'nda amatör tahsis yoktur.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70 MHz bandı amatör dışında kalsın.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Bilgi Sunumu: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BTK'ya CEPT ülkelerindeki 70 MHz amatör kullanımı hakkında teknik bilgi sunumu yapılır.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MFP Tahsis Talebi: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BTK'ya 70,0–70,5 MHz bandının Milli Frekans Planı'na ikincil amatör tahsis olarak eklenmesi talep edilir.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ECC Çerçevesinde Müzakere: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kulüpler, BTK aracılığıyla ECC'ye Türkiye adına 70 MHz ikincil tahsis talebini iletir.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GA-BAND-3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Mikrodalga Bantları (2,4 / 5,7 / 10 / 24 GHz) — MFP Var, TAD Yok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BTK MFP bazı mikrodalga bantlarını ikincil amatör tahsisli listeler; ancak TAD 2021 bu bantlar için teknik parametreler içermiyor. 2,4 GHz hem WiFi SRD hem amatör alanda bulunuyor.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Mikrodalga kullanımı pratikte sorunsuz sürsün.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Kullanım Rehberi: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'mikrodalga amatör kullanım rehberi' yayımlar; IARU R1 bandplan referansıyla.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TAD Parametresi Talebi: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BTK'ya MFP'deki ikincil amatör tahsisli bantlar için TAD 2021'e ek teknik parametre maddesi eklenmesi.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Öncelikli 2,4 GHz TAD: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En yaygın kullanım olduğu için 2,4 GHz'i öncelikli hedef olarak BTK'ya sunar; diğer bantlar ikincil adımda ele alınır.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GA-ARAC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Araçta Amatör Telsiz Kullanımı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FTM Tablo 25 amatör telsizi 'sabit, araç ve el telsizlerini' kapsar; araç telsizi FTM muafiyetindedir. Ancak sabit anten montajı, sürüş sırasında el telsizi tutma ve kurumsal araç izni konusunda belirsizlik vardır.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Belirsizliği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Pratik sorun nadir; bireysel sorumluluk yeterli.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Araç Montaj Kılavuzu: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'amatör araç telsiz montaj ve kullanım kılavuzu' yayımlar; mag-mount önerir, sürüşte hands-free vurgular.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BTK Duyuru Talebi: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BTK'dan mobil amatör istasyon anten montajı ve trafik mevzuatı konusunda net duyuru talep edilir.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KTK/FTM Net Düzenleme: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2918 KTK Md.29 ve FTM kapsamında araç amatör istasyonu için net yasal çerçeve talebi.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GA-POTA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Park Aktivasyonu (POTA) — Arazi Kullanım İzinleri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FTM muafiyeti frekans spektrumunu kapsar; arazi kullanım izni ayrıdır. Milli park, devlet ormanı, belediye parkı ve kıyı gibi farklı arazi türlerinde hangi kuruma başvurulacağı belirsizdir.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Bireysel Sorumluluk: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Her aktivatör kendi araştırmasını yapar; mevcut tolerans yeterli.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İzin Rehberi: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'POTA izin rehberi' yayımlar: arazi türüne göre hangi kuruma başvurulur tablosuyla.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Bakanlıklarla Protokol: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Tarım ve Orman Bakanlığı + ÇŞİB ile dernek ve kulüpler arasında aktivasyonu kolaylaştırıcı ortak protokol.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BTK Tebliğ Talebi: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BTK'nın FTM muafiyetinin arazi iznini kapsamadığını açıklayan resmî tebliğ yayımlaması; arazi sahiplerine bildirim.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GA-AREDN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AREDN Amatör Mesh Ağı (2,4 / 5,8 GHz)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AREDN, değiştirilmiş WiFi donanımıyla 2,4 ve 5,8 GHz amatör bantlarda mesh ağ kurar. Türkiye'de bu bantlar ikincil amatör tahsisli; ancak TAD'da teknik parametre yoktur. 2,4 GHz hem WiFi SRD hem amatör bant.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Amatör Lisansla Kullan: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A/B sınıfı lisansla, amatör çağrı işareti yayınlayarak kullanım mevcut haliyle sürsün.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AREDN Rehberi: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Türkiye AREDN kullanım rehberi ve ağ koordinasyon noktası oluşturur.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TAD Parametre Talebi: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BTK'ya 2,4/5,8 GHz amatör kullanımı için TAD 2021'e teknik parametre maddesi eklenmesi.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Firmware=Kendi İmalatı Açıklaması: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KEGM'den 'firmware değiştirilen ticari donanım kendi imalatı sayılır mı?' sorusuna resmî yanıt.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GA-LORA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LoRa / Meshtastic / LoRa-APRS — 433/868/915 MHz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Türkiye'de 868 MHz FTM-muaf SRD (lisanssız, 25 mW). 433 MHz FTM-muaf SRD (10 mW) ancak amatör band. 915 MHz Türkiye'de GSM/LTE spektrumu — YASADIŞI. LoRa-APRS TX callsign ile amatör operasyon sayılır.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Kullanıcılar kendi araştırmasını yapar; 868 MHz zaten yasal.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Kulüp Duyurusu: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'915 MHz Türkiye'de yasadışı; 868 MHz kullanın' duyurusu yayımlar; Meshtastic topluluğuna iletir.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BTK Sektör Uyarısı: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BTK'ya 915 MHz preset'li ithal cihazlar için tüketici uyarısı ve e-ticaret platformlarına bildirim talebi.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LoRa-APRS TX Muafiyeti: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FTM düzenlemesine callsign içeren LoRa-APRS iletimlerinin SRD muafiyeti kapsamında kalması için madde.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Yurt Dışı Geçici Cihaz Çıkışı (Gümrük)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Amatör telsizcinin seyahatte cihazını yurt dışına çıkarması için standart bir gümrük prosedürü yoktur. Gümrük Yönetmeliği Ek-71 kullanılmakla birlikte uygulama il bazında değişir; CEPT karşılıklı tanıma (T/R 61-01) da TR'de uygulanmaz.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Ek-71 ile bireysel çözüm sürsün; sorun nadir yaşanır.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Rehber: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'yurt dışına telsiz çıkışı' kılavuzu yayımlar (Ek-71 örneği, ATA Karnesi bilgisi).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Yazılı Görüş Talep Et: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Ticaret Bakanlığı / Gümrükler Genel Müdürlüğü'nden amatör cihazların geçici çıkışı için standart prosedür görüşü istenir.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Prosedür Düzenlemesi: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Amatör cihazların geçici çıkışı için standart gümrük prosedür belgesi ve CEPT T/R 61-01 uyumu talep edilir.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Anten Kurulumu ve Kat Mülkiyeti (KMK) Çatışması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Amatör anten kurmak isteyen operatör, 634 sayılı KMK Md.19 kapsamında ortak alan değişikliği için kat maliklerinin nitelikli çoğunluğunun onayına takılır. Mevzuatta amatör antene özgü muafiyet veya güvence yoktur; emsal mahkeme kararları dağınıktır.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Uyuşmazlıklar bireysel/mahkeme yoluyla çözülsün.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Emsal Derlemesi: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kulüpler, anten uyuşmazlıklarında kullanılabilecek emsal karar derlemesi ve örnek dilekçe yayımlar.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Görüş/Genelge Talep Et: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BTK/KEGM'den KMK Md.19 ile çatışmayı açıklayan görüş/genelge; Çevre ve Şehircilik Bakanlığı'na başvuru.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Mevzuat Değişikliği: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634 KMK veya alt düzenlemede amatör antenine özgü hak/güvence maddesi eklenmesi talebi.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Silent Key, Çağrı İşareti Yaşam Döngüsü ve Vesayet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Belge iptalinde (vefat dâhil) çağrı işareti 10 yıl pasif tutulur, devredilemez. SK'nın resmî tanımı, 10 yıl sonrası akıbet ve aileye/kulübe 'in memoriam' vesayet yolu tanımsızdır. 'Babadan oğla geçme' fiilî bir taleptir; hukuki dayanağı yoktur.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10 yıl pasif kural sürsün; çağrı işareti devredilemez kalsın.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Topluluk Kılavuzu: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SK terminolojisi, saygı protokolü ve vesayet önerilerini içeren kılavuz yayımlar.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Yazılı Görüş Talep Et: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KEGM'den 10 yıl sonrası akıbet ve aileye/kulübe in-memoriam vesayet usulü için resmî görüş.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Mevzuat Düzenlemesi: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Çağrı işareti yaşam döngüsü + vesayet tanımlansın — süre (koru/uzat/kısalt/kaldır) ve devir (devredilemez / şartlı aile-kulüp / süre sonu serbest / kalıcı anıt) seçenekleriyle.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Bölge Değişikliğinde Çağrı İşareti ve Taşınabilirlik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Bölgeye taşınınca 3 ay içinde başvuru zorunlu; ya yeni çağrı ya '/bölge' ile koruma (ör. TA3A/4). 3 ay başvuru yükü, '/bölge' korumasının kalıcı kabulü belirsiz; afet göçüyle kural fiilen işlemiyor. (Tam farklı işarete geçiş zorunlu değildir.)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3 ay + yeni çağrı ya da /bölge kuralı sürsün.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Topluluk Kılavuzu: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'/bölge ile koruma' hakkını ve 'zorunlu tam değişim' yanlış algısının düzeltilmesini anlatan kılavuz yayımlar.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Yazılı Görüş Talep Et: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KEGM'den kalıcı ikamette '/bölge' korumasının süresiz kabulü, 3 ay yükünün hafifletilmesi ve afet muafiyeti için resmî görüş.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Mevzuat Değişikliği: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Bölge tabanlı yeniden tahsis kalksın; çağrı işareti ülke genelinde taşınabilir olsun.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GA-CIHAZ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Cihaz Uygunluğu, Piyasa Gözetimi ve Devir Kaydı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Uygunluk beyanına dayalı rejimde, istenmeyen emisyon limitlerini karşılamayan ucuz verici cihazlar e-ticarette belge kontrolü olmadan satılıyor (BTK 2019'da UV-5R dâhil bazı modelleri güvensiz ilan edip toplattı). Cihaz devrinde bildirim usulü yok; izlenebilirlik zayıf.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Piyasa serbestisi sürsün; sorumluluk kullanıcıda kalsın.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Topluluk Duyurusu: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Dernek ve kulüpler 'uyumlu cihaz listesi' ve devir kaydı iyi uygulama rehberi yayımlar.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Yazılı Görüş Talep Et: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BTK'dan satışta belge kontrolü ve piyasa gözetimi uygulaması hakkında resmî görüş istenir.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Mevzuat/Prosedür: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Satışta belge kontrolü, sıkı emisyon denetimi ve devir bildirim usulü talep edilir.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21 / 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92608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GA-EMCOMM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74320"/>
            <a:ext cx="9281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mbria"/>
              </a:rPr>
              <a:t>Afet Haberleşmesi: AFAD ile Resmî Protokol (MOU)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74552" cy="1325880"/>
          </a:xfrm>
          <a:prstGeom prst="roundRect">
            <a:avLst>
              <a:gd name="adj" fmla="val 8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356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spc="200">
                <a:solidFill>
                  <a:srgbClr val="1E2761"/>
                </a:solidFill>
                <a:latin typeface="Calibri"/>
              </a:rPr>
              <a:t>SORUN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374151"/>
                </a:solidFill>
                <a:latin typeface="Calibri"/>
              </a:rPr>
              <a:t>Amatör istasyonların afet haberleşmesi rolü mevzuatta tanınıyor; ancak AFAD ile resmî protokol (MOU) yok. Katkı plansız kalıyor; 'depremde lazım olur' söylemi kural ihlallerine kılıf yapılabiliyor.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05456"/>
            <a:ext cx="402336" cy="402336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87168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Mevcut Durumu Koru: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Gönüllü ve gayriresmî katkı yeterli.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Topluluk Hazırlığı: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Kulüpler kendi EMCOMM planlarını ve tatbikatlarını yapar; ETG Türkçe baskısı yaygınlaştırılır.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078224"/>
            <a:ext cx="402336" cy="40233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6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Yazılı Görüş Talep Et: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AFAD'dan amatörlerin il afet planlarındaki yeri hakkında görüş istenir.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64607"/>
            <a:ext cx="402336" cy="40233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6070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1E2761"/>
                </a:solidFill>
                <a:latin typeface="Calibri"/>
              </a:rPr>
              <a:t>Mevzuat/Protokol: </a:t>
            </a:r>
            <a:r>
              <a:rPr sz="1250" b="0" i="0">
                <a:solidFill>
                  <a:srgbClr val="374151"/>
                </a:solidFill>
                <a:latin typeface="Calibri"/>
              </a:rPr>
              <a:t>AFAD ile ulusal MOU ve ortak tatbikat usulü talep edilir.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650992"/>
            <a:ext cx="402336" cy="402336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5099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32704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Diğer görüş / not: </a:t>
            </a:r>
            <a:r>
              <a:rPr sz="1250" b="0" i="1">
                <a:solidFill>
                  <a:srgbClr val="6B7280"/>
                </a:solidFill>
                <a:latin typeface="Calibri"/>
              </a:rPr>
              <a:t>kendi görüşünüzü / notunuzu yazın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Oylama ve Sayım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96596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E7ECFA"/>
                </a:solidFill>
                <a:latin typeface="Calibri"/>
              </a:rPr>
              <a:t>•  Her üye kendi oy pusulasını işaretler; çağrı işareti ve imza ile teslim eder.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E7ECFA"/>
                </a:solidFill>
                <a:latin typeface="Calibri"/>
              </a:rPr>
              <a:t>•  Her gri alan için birden fazla seçenek işaretlenebilir (A/B/C/D/E).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E7ECFA"/>
                </a:solidFill>
                <a:latin typeface="Calibri"/>
              </a:rPr>
              <a:t>•  Oylar toplantı sonunda toplanır ve GA bazında sayım tablosuna işlenir.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E7ECFA"/>
                </a:solidFill>
                <a:latin typeface="Calibri"/>
              </a:rPr>
              <a:t>•  Amaç: kurumlara iletilecek taleplerde topluluğun ortak iradesini belgelemek.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DB2E8"/>
                </a:solidFill>
                <a:latin typeface="Calibri"/>
              </a:rPr>
              <a:t>Not: IARU Bölge 1 Türkiye üyesi kuruluş TRAC'tır (bilgi amaçlı). Bu pusula herhangi bir derneğe rol atfetmez; taslak niteliğindedir ve hukuki tavsiye değildir.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